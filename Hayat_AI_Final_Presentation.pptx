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0000"/>
                </a:solidFill>
              </a:defRPr>
            </a:pPr>
            <a:r>
              <a:t>Hayat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</a:defRPr>
            </a:pPr>
            <a:r>
              <a:t>Digital Twin Healthspan Platform for UAE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The $11 Billion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9014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C80000"/>
                </a:solidFill>
              </a:defRPr>
            </a:pPr>
            <a:r>
              <a:t>🔴 TRIPLE THREAT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400" b="1">
                <a:solidFill>
                  <a:srgbClr val="000000"/>
                </a:solidFill>
              </a:defRPr>
            </a:pPr>
            <a:r>
              <a:t>Cardiovascular Disease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4800" b="1">
                <a:solidFill>
                  <a:srgbClr val="C80000"/>
                </a:solidFill>
              </a:defRPr>
            </a:pPr>
            <a:r>
              <a:t>40% of deaths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0">
                <a:solidFill>
                  <a:srgbClr val="646464"/>
                </a:solidFill>
              </a:defRPr>
            </a:pPr>
            <a:r>
              <a:t>80% preventable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400" b="1">
                <a:solidFill>
                  <a:srgbClr val="000000"/>
                </a:solidFill>
              </a:defRPr>
            </a:pPr>
            <a:r>
              <a:t>Diabetes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4800" b="1">
                <a:solidFill>
                  <a:srgbClr val="C80000"/>
                </a:solidFill>
              </a:defRPr>
            </a:pPr>
            <a:r>
              <a:t>20.7% prevalence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0">
                <a:solidFill>
                  <a:srgbClr val="646464"/>
                </a:solidFill>
              </a:defRPr>
            </a:pPr>
            <a:r>
              <a:t>2nd highest globally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400" b="1">
                <a:solidFill>
                  <a:srgbClr val="000000"/>
                </a:solidFill>
              </a:defRPr>
            </a:pPr>
            <a:r>
              <a:t>Cancer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4800" b="1">
                <a:solidFill>
                  <a:srgbClr val="C80000"/>
                </a:solidFill>
              </a:defRPr>
            </a:pPr>
            <a:r>
              <a:t>12% of deaths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0">
                <a:solidFill>
                  <a:srgbClr val="646464"/>
                </a:solidFill>
              </a:defRPr>
            </a:pPr>
            <a:r>
              <a:t>40-50% preventable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07280" y="1371600"/>
            <a:ext cx="39014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C86400"/>
                </a:solidFill>
              </a:defRPr>
            </a:pPr>
            <a:r>
              <a:t>💰 ECONOMIC BURDEN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6400" b="1">
                <a:solidFill>
                  <a:srgbClr val="C86400"/>
                </a:solidFill>
              </a:defRPr>
            </a:pPr>
            <a:r>
              <a:t>$11 Billion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0">
                <a:solidFill>
                  <a:srgbClr val="646464"/>
                </a:solidFill>
              </a:defRPr>
            </a:pPr>
            <a:r>
              <a:t>Annual cost (AED 40B)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6400" b="1">
                <a:solidFill>
                  <a:srgbClr val="C86400"/>
                </a:solidFill>
              </a:defRPr>
            </a:pPr>
            <a:r>
              <a:t>60-70%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0">
                <a:solidFill>
                  <a:srgbClr val="646464"/>
                </a:solidFill>
              </a:defRPr>
            </a:pPr>
            <a:r>
              <a:t>Preventable burden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6400" b="1">
                <a:solidFill>
                  <a:srgbClr val="C86400"/>
                </a:solidFill>
              </a:defRPr>
            </a:pPr>
            <a:r>
              <a:t>16 Years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0">
                <a:solidFill>
                  <a:srgbClr val="646464"/>
                </a:solidFill>
              </a:defRPr>
            </a:pPr>
            <a:r>
              <a:t>Healthspan gap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6464"/>
                </a:solidFill>
              </a:defRPr>
            </a:pPr>
            <a:r>
              <a:t>7th worst globally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4480" y="1371600"/>
            <a:ext cx="39014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960000"/>
                </a:solidFill>
              </a:defRPr>
            </a:pPr>
            <a:r>
              <a:t>🎯 AT RISK NOW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6400" b="1">
                <a:solidFill>
                  <a:srgbClr val="960000"/>
                </a:solidFill>
              </a:defRPr>
            </a:pPr>
            <a:r>
              <a:t>213,000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0">
                <a:solidFill>
                  <a:srgbClr val="646464"/>
                </a:solidFill>
              </a:defRPr>
            </a:pPr>
            <a:r>
              <a:t>Thiqa members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6464"/>
                </a:solidFill>
              </a:defRPr>
            </a:pPr>
            <a:r>
              <a:t>Age 50+, chronic disease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4800" b="1">
                <a:solidFill>
                  <a:srgbClr val="960000"/>
                </a:solidFill>
              </a:defRPr>
            </a:pPr>
            <a:r>
              <a:t>AED 20-30B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0">
                <a:solidFill>
                  <a:srgbClr val="646464"/>
                </a:solidFill>
              </a:defRPr>
            </a:pPr>
            <a:r>
              <a:t>Annual citizen healthcare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6464"/>
                </a:solidFill>
              </a:defRPr>
            </a:pPr>
            <a:r>
              <a:t>Abu Dhabi Government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</a:defRPr>
            </a:pPr>
            <a:r>
              <a:t>27% of members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800" b="1">
                <a:solidFill>
                  <a:srgbClr val="960000"/>
                </a:solidFill>
              </a:defRPr>
            </a:pPr>
            <a:r>
              <a:t>= 60-70% of costs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Why Digital Twin AI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9014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800" b="1">
                <a:solidFill>
                  <a:srgbClr val="009600"/>
                </a:solidFill>
              </a:defRPr>
            </a:pPr>
            <a:r>
              <a:t>✅ PROVEN TECHNOLOGY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5600" b="1">
                <a:solidFill>
                  <a:srgbClr val="009600"/>
                </a:solidFill>
              </a:defRPr>
            </a:pPr>
            <a:r>
              <a:t>93%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6464"/>
                </a:solidFill>
              </a:defRPr>
            </a:pPr>
            <a:r>
              <a:t>Cancer detection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646464"/>
                </a:solidFill>
              </a:defRPr>
            </a:pPr>
            <a:r>
              <a:t>Nature, 373 citations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5600" b="1">
                <a:solidFill>
                  <a:srgbClr val="009600"/>
                </a:solidFill>
              </a:defRPr>
            </a:pPr>
            <a:r>
              <a:t>90%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6464"/>
                </a:solidFill>
              </a:defRPr>
            </a:pPr>
            <a:r>
              <a:t>Cost reduction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646464"/>
                </a:solidFill>
              </a:defRPr>
            </a:pPr>
            <a:r>
              <a:t>Chronic disease mgmt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4800" b="1">
                <a:solidFill>
                  <a:srgbClr val="009600"/>
                </a:solidFill>
              </a:defRPr>
            </a:pPr>
            <a:r>
              <a:t>20+ Years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6464"/>
                </a:solidFill>
              </a:defRPr>
            </a:pPr>
            <a:r>
              <a:t>Digital Twin research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646464"/>
                </a:solidFill>
              </a:defRPr>
            </a:pPr>
            <a:r>
              <a:t>Mount Sinai, 12M patients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07280" y="1371600"/>
            <a:ext cx="39014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800" b="1">
                <a:solidFill>
                  <a:srgbClr val="0064C8"/>
                </a:solidFill>
              </a:defRPr>
            </a:pPr>
            <a:r>
              <a:t>💰 MARKET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400" b="1">
                <a:solidFill>
                  <a:srgbClr val="000000"/>
                </a:solidFill>
              </a:defRPr>
            </a:pPr>
            <a:r>
              <a:t>Twin Health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5600" b="1">
                <a:solidFill>
                  <a:srgbClr val="0064C8"/>
                </a:solidFill>
              </a:defRPr>
            </a:pPr>
            <a:r>
              <a:t>$950M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6464"/>
                </a:solidFill>
              </a:defRPr>
            </a:pPr>
            <a:r>
              <a:t>Valuation (Aug 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0">
                <a:solidFill>
                  <a:srgbClr val="646464"/>
                </a:solidFill>
              </a:defRPr>
            </a:pPr>
            <a:r>
              <a:t>$296M raised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646464"/>
                </a:solidFill>
              </a:defRPr>
            </a:pPr>
            <a:r>
              <a:t>Metabolic Digital Twin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400" b="1">
                <a:solidFill>
                  <a:srgbClr val="000000"/>
                </a:solidFill>
              </a:defRPr>
            </a:pPr>
            <a:r>
              <a:t>PrediSurge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4800" b="1">
                <a:solidFill>
                  <a:srgbClr val="0064C8"/>
                </a:solidFill>
              </a:defRPr>
            </a:pPr>
            <a:r>
              <a:t>€6.5M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6464"/>
                </a:solidFill>
              </a:defRPr>
            </a:pPr>
            <a:r>
              <a:t>Series A (Oct 2023)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646464"/>
                </a:solidFill>
              </a:defRPr>
            </a:pPr>
            <a:r>
              <a:t>Cardiovascular Digital Twin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→ Investors believe 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0064C8"/>
                </a:solidFill>
              </a:defRPr>
            </a:pPr>
            <a:r>
              <a:t>Digital Twin health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4480" y="1371600"/>
            <a:ext cx="39014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800" b="1">
                <a:solidFill>
                  <a:srgbClr val="640096"/>
                </a:solidFill>
              </a:defRPr>
            </a:pPr>
            <a:r>
              <a:t>🛡️ UAE-SPECIFIC MOAT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t>1. Emirati Genetics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6464"/>
                </a:solidFill>
              </a:defRPr>
            </a:pPr>
            <a:r>
              <a:t>800K genome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0096"/>
                </a:solidFill>
              </a:defRPr>
            </a:pPr>
            <a:r>
              <a:t>30-40% higher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t>2. Ramadan Protocols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6464"/>
                </a:solidFill>
              </a:defRPr>
            </a:pPr>
            <a:r>
              <a:t>Cultural adaptation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0096"/>
                </a:solidFill>
              </a:defRPr>
            </a:pPr>
            <a:r>
              <a:t>40%+ adherence boost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t>3. Government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6464"/>
                </a:solidFill>
              </a:defRPr>
            </a:pPr>
            <a:r>
              <a:t>Daman/Thiqa partnership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0096"/>
                </a:solidFill>
              </a:defRPr>
            </a:pPr>
            <a:r>
              <a:t>790K members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t>4. 6-Source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0096"/>
                </a:solidFill>
              </a:defRPr>
            </a:pPr>
            <a:r>
              <a:t>vs competitors' 1-2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000000"/>
                </a:solidFill>
              </a:defRPr>
            </a:pPr>
            <a:r>
              <a:t>→ Western competitors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640096"/>
                </a:solidFill>
              </a:defRPr>
            </a:pPr>
            <a:r>
              <a:t>can't replicate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7.6x Returns in 5 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9014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966400"/>
                </a:solidFill>
              </a:defRPr>
            </a:pPr>
            <a:r>
              <a:t>💵 THE ASK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7200" b="1">
                <a:solidFill>
                  <a:srgbClr val="966400"/>
                </a:solidFill>
              </a:defRPr>
            </a:pPr>
            <a:r>
              <a:t>$15M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0">
                <a:solidFill>
                  <a:srgbClr val="646464"/>
                </a:solidFill>
              </a:defRPr>
            </a:pPr>
            <a:r>
              <a:t>Seed raise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400" b="0">
                <a:solidFill>
                  <a:srgbClr val="000000"/>
                </a:solidFill>
              </a:defRPr>
            </a:pPr>
            <a:r>
              <a:t>$35M pre-money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0">
                <a:solidFill>
                  <a:srgbClr val="000000"/>
                </a:solidFill>
              </a:defRPr>
            </a:pPr>
            <a:r>
              <a:t>$50M post-money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000000"/>
                </a:solidFill>
              </a:defRPr>
            </a:pPr>
            <a:r>
              <a:t>Use of Funds: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t>• Team: $4M (27%)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t>• Product: $6M (40%)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t>• Clinical: $3M (20%)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t>• Operations: $2M (13%)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07280" y="1371600"/>
            <a:ext cx="39014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640096"/>
                </a:solidFill>
              </a:defRPr>
            </a:pPr>
            <a:r>
              <a:t>📈 5-YEAR PROJECTIONS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000000"/>
                </a:solidFill>
              </a:defRPr>
            </a:pPr>
            <a:r>
              <a:t>Year 2 (Series 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0">
                <a:solidFill>
                  <a:srgbClr val="000000"/>
                </a:solidFill>
              </a:defRPr>
            </a:pPr>
            <a:r>
              <a:t>5,925 members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800" b="1">
                <a:solidFill>
                  <a:srgbClr val="640096"/>
                </a:solidFill>
              </a:defRPr>
            </a:pPr>
            <a:r>
              <a:t>$7.1M ARR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000000"/>
                </a:solidFill>
              </a:defRPr>
            </a:pPr>
            <a:r>
              <a:t>Year 3 (Break-even)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0">
                <a:solidFill>
                  <a:srgbClr val="000000"/>
                </a:solidFill>
              </a:defRPr>
            </a:pPr>
            <a:r>
              <a:t>14,036 members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800" b="1">
                <a:solidFill>
                  <a:srgbClr val="640096"/>
                </a:solidFill>
              </a:defRPr>
            </a:pPr>
            <a:r>
              <a:t>$16.8M ARR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000000"/>
                </a:solidFill>
              </a:defRPr>
            </a:pPr>
            <a:r>
              <a:t>Year 5 (Exit Ready)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0">
                <a:solidFill>
                  <a:srgbClr val="000000"/>
                </a:solidFill>
              </a:defRPr>
            </a:pPr>
            <a:r>
              <a:t>38,191 members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800" b="1">
                <a:solidFill>
                  <a:srgbClr val="640096"/>
                </a:solidFill>
              </a:defRPr>
            </a:pPr>
            <a:r>
              <a:t>$45.8M ARR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6464"/>
                </a:solidFill>
              </a:defRPr>
            </a:pPr>
            <a:r>
              <a:t>49% EBITDA margin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0">
                <a:solidFill>
                  <a:srgbClr val="000000"/>
                </a:solidFill>
              </a:defRPr>
            </a:pPr>
            <a:r>
              <a:t>18% penetration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6464"/>
                </a:solidFill>
              </a:defRPr>
            </a:pPr>
            <a:r>
              <a:t>15% churn factored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4480" y="1371600"/>
            <a:ext cx="39014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C89600"/>
                </a:solidFill>
              </a:defRPr>
            </a:pPr>
            <a:r>
              <a:t>🎯 RETURNS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9600" b="1">
                <a:solidFill>
                  <a:srgbClr val="C89600"/>
                </a:solidFill>
              </a:defRPr>
            </a:pPr>
            <a:r>
              <a:t>7.6x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0">
                <a:solidFill>
                  <a:srgbClr val="646464"/>
                </a:solidFill>
              </a:defRPr>
            </a:pPr>
            <a:r>
              <a:t>Returns in 5 years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4800" b="1">
                <a:solidFill>
                  <a:srgbClr val="C89600"/>
                </a:solidFill>
              </a:defRPr>
            </a:pPr>
            <a:r>
              <a:t>50% IRR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0">
                <a:solidFill>
                  <a:srgbClr val="646464"/>
                </a:solidFill>
              </a:defRPr>
            </a:pPr>
            <a:r>
              <a:t>Internal rate of return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5600" b="1">
                <a:solidFill>
                  <a:srgbClr val="C89600"/>
                </a:solidFill>
              </a:defRPr>
            </a:pPr>
            <a:r>
              <a:t>$380M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0">
                <a:solidFill>
                  <a:srgbClr val="646464"/>
                </a:solidFill>
              </a:defRPr>
            </a:pPr>
            <a:r>
              <a:t>Valuation (10x ARR)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</a:defRPr>
            </a:pPr>
            <a:r>
              <a:t>Upside: 10.5x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6464"/>
                </a:solidFill>
              </a:defRPr>
            </a:pPr>
            <a:r>
              <a:t>at 25% penetration (Y7)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646464"/>
                </a:solidFill>
              </a:defRPr>
            </a:pPr>
            <a:r>
              <a:t>Twin Health: 30%+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Execution Roadmap: Seed → Series A → Exit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9014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800" b="1">
                <a:solidFill>
                  <a:srgbClr val="0064C8"/>
                </a:solidFill>
              </a:defRPr>
            </a:pPr>
            <a:r>
              <a:t>SEED (M0-18)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t>M0-6: Build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Daman MOU signed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Team assembled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Platform MVP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t>M6-12: Validate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500-person pilot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Thiqa members, 50+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Health Score +10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t>M12-18: Prove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75%+ retention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Daman LOI (10K)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$600K ARR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07280" y="1371600"/>
            <a:ext cx="39014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800" b="1">
                <a:solidFill>
                  <a:srgbClr val="009600"/>
                </a:solidFill>
              </a:defRPr>
            </a:pPr>
            <a:r>
              <a:t>SERIES A (Y2)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000000"/>
                </a:solidFill>
              </a:defRPr>
            </a:pPr>
            <a:r>
              <a:t>Raise: $15-20M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t>Pre-money: $50-60M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t>Metrics: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5,925 members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$7.1M ARR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85% retention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Daman LOI executed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t>Goal: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Scale to 14K (Y3)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Break-even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4480" y="1371600"/>
            <a:ext cx="39014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800" b="1">
                <a:solidFill>
                  <a:srgbClr val="960096"/>
                </a:solidFill>
              </a:defRPr>
            </a:pPr>
            <a:r>
              <a:t>SCALE (Y3-5)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t>Year 3: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14,036 members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$16.8M ARR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Break-even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t>Year 4: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24,931 members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$29.9M ARR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37% EBITDA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t>Year 5: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38,191 members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$45.8M ARR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49% EBITDA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960096"/>
                </a:solidFill>
              </a:defRPr>
            </a:pPr>
            <a:r>
              <a:t>• $380M 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Why Thiqa via Daman? Government-Backed, High-Value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9014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800" b="1">
                <a:solidFill>
                  <a:srgbClr val="006496"/>
                </a:solidFill>
              </a:defRPr>
            </a:pPr>
            <a:r>
              <a:t>🏛️ THIQA 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000000"/>
                </a:solidFill>
              </a:defRPr>
            </a:pPr>
            <a:r>
              <a:t>What is Thiqa?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Abu Dhabi Gov program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100% coverage for UAE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  nationals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Managed by Daman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• Fully gov-funded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t>Members: 790,000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t>Spend: AED 20-30B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646464"/>
                </a:solidFill>
              </a:defRPr>
            </a:pPr>
            <a:r>
              <a:t>Source: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646464"/>
                </a:solidFill>
              </a:defRPr>
            </a:pPr>
            <a:r>
              <a:t>Daman 10th Anniversary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646464"/>
                </a:solidFill>
              </a:defRPr>
            </a:pPr>
            <a:r>
              <a:t>(2018)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07280" y="1371600"/>
            <a:ext cx="39014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800" b="1">
                <a:solidFill>
                  <a:srgbClr val="960000"/>
                </a:solidFill>
              </a:defRPr>
            </a:pPr>
            <a:r>
              <a:t>🎯 WHY TARGET 50+?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400" b="1">
                <a:solidFill>
                  <a:srgbClr val="960000"/>
                </a:solidFill>
              </a:defRPr>
            </a:pPr>
            <a:r>
              <a:t>Target: 213,000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6464"/>
                </a:solidFill>
              </a:defRPr>
            </a:pPr>
            <a:r>
              <a:t>(27% of Thiqa)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4800" b="1">
                <a:solidFill>
                  <a:srgbClr val="960000"/>
                </a:solidFill>
              </a:defRPr>
            </a:pPr>
            <a:r>
              <a:t>= 60-70%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0">
                <a:solidFill>
                  <a:srgbClr val="646464"/>
                </a:solidFill>
              </a:defRPr>
            </a:pPr>
            <a:r>
              <a:t>of healthcare costs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t>Per-capita spend: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960000"/>
                </a:solidFill>
              </a:defRPr>
            </a:pPr>
            <a:r>
              <a:t>AED 61-91K/year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6464"/>
                </a:solidFill>
              </a:defRPr>
            </a:pPr>
            <a:r>
              <a:t>($16,600-24,900)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→ Highest-cost,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960000"/>
                </a:solidFill>
              </a:defRPr>
            </a:pPr>
            <a:r>
              <a:t>highest-value 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4480" y="1371600"/>
            <a:ext cx="39014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800" b="1">
                <a:solidFill>
                  <a:srgbClr val="009600"/>
                </a:solidFill>
              </a:defRPr>
            </a:pPr>
            <a:r>
              <a:t>💰 ROI FOR DAMAN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t>Annual cost: $16-25K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t>Preventable (70%):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t>$11-17K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t>Hayat AI reduces 20%: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>
                <a:solidFill>
                  <a:srgbClr val="009600"/>
                </a:solidFill>
              </a:defRPr>
            </a:pPr>
            <a:r>
              <a:t>$2-5K savings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t>Hayat AI cost: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>
                <a:solidFill>
                  <a:srgbClr val="000000"/>
                </a:solidFill>
              </a:defRPr>
            </a:pPr>
            <a:r>
              <a:t>$1,200/year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009600"/>
                </a:solidFill>
              </a:defRPr>
            </a:pPr>
            <a:r>
              <a:t>ROI: 1.9-4.4x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t>At 38K members: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800" b="1">
                <a:solidFill>
                  <a:srgbClr val="009600"/>
                </a:solidFill>
              </a:defRPr>
            </a:pPr>
            <a:r>
              <a:t>$112-403M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646464"/>
                </a:solidFill>
              </a:defRPr>
            </a:pPr>
            <a:r>
              <a:t>annual net savings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8 Defensible Competitive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9014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800" b="1">
                <a:solidFill>
                  <a:srgbClr val="640096"/>
                </a:solidFill>
              </a:defRPr>
            </a:pPr>
            <a:r>
              <a:t>UAE-SPECIFIC MOAT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000000"/>
                </a:solidFill>
              </a:defRPr>
            </a:pPr>
            <a:r>
              <a:t>1. Emirati Genetics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800K genome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640096"/>
                </a:solidFill>
              </a:defRPr>
            </a:pPr>
            <a:r>
              <a:t>30-40% accuracy boost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000000"/>
                </a:solidFill>
              </a:defRPr>
            </a:pPr>
            <a:r>
              <a:t>2. Ramadan Protocols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Cultural adaptation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640096"/>
                </a:solidFill>
              </a:defRPr>
            </a:pPr>
            <a:r>
              <a:t>40%+ adherence boost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000000"/>
                </a:solidFill>
              </a:defRPr>
            </a:pPr>
            <a:r>
              <a:t>3. Arabic Language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Native interface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640096"/>
                </a:solidFill>
              </a:defRPr>
            </a:pPr>
            <a:r>
              <a:t>Broader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07280" y="1371600"/>
            <a:ext cx="39014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800" b="1">
                <a:solidFill>
                  <a:srgbClr val="006496"/>
                </a:solidFill>
              </a:defRPr>
            </a:pPr>
            <a:r>
              <a:t>PARTNERSHIP MOAT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000000"/>
                </a:solidFill>
              </a:defRPr>
            </a:pPr>
            <a:r>
              <a:t>4. Government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Daman/Thiqa partnership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6496"/>
                </a:solidFill>
              </a:defRPr>
            </a:pPr>
            <a:r>
              <a:t>790K members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000000"/>
                </a:solidFill>
              </a:defRPr>
            </a:pPr>
            <a:r>
              <a:t>5. First-Mover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UAE Digital Twin market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6496"/>
                </a:solidFill>
              </a:defRPr>
            </a:pPr>
            <a:r>
              <a:t>Network effects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000000"/>
                </a:solidFill>
              </a:defRPr>
            </a:pPr>
            <a:r>
              <a:t>6. Regulatory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Streamlined approval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6496"/>
                </a:solidFill>
              </a:defRPr>
            </a:pPr>
            <a:r>
              <a:t>Gov-run Thiqa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4480" y="1371600"/>
            <a:ext cx="39014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800" b="1">
                <a:solidFill>
                  <a:srgbClr val="966400"/>
                </a:solidFill>
              </a:defRPr>
            </a:pPr>
            <a:r>
              <a:t>TECHNICAL MOAT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000000"/>
                </a:solidFill>
              </a:defRPr>
            </a:pPr>
            <a:r>
              <a:t>7. 6-Source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vs competitors' 1-2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966400"/>
                </a:solidFill>
              </a:defRPr>
            </a:pPr>
            <a:r>
              <a:t>Comprehensive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000000"/>
                </a:solidFill>
              </a:defRPr>
            </a:pPr>
            <a:r>
              <a:t>8. Blueprint-Optimized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Evidence-based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966400"/>
                </a:solidFill>
              </a:defRPr>
            </a:pPr>
            <a:r>
              <a:t>Health Score V2.0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→ Western competitors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t>face 3-5 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966400"/>
                </a:solidFill>
              </a:defRPr>
            </a:pPr>
            <a:r>
              <a:t>market entry barriers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0000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