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UAE</c:v>
                </c:pt>
              </c:strCache>
            </c:strRef>
          </c:tx>
          <c:spPr>
            <a:ln w="50800">
              <a:solidFill>
                <a:srgbClr val="FF00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11.0</c:v>
                </c:pt>
                <c:pt idx="1">
                  <c:v>12.5</c:v>
                </c:pt>
                <c:pt idx="2">
                  <c:v>13.8</c:v>
                </c:pt>
                <c:pt idx="3">
                  <c:v>14.9</c:v>
                </c:pt>
                <c:pt idx="4">
                  <c:v>15.6</c:v>
                </c:pt>
                <c:pt idx="5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Global Average</c:v>
                </c:pt>
              </c:strCache>
            </c:strRef>
          </c:tx>
          <c:spPr>
            <a:ln w="25400">
              <a:solidFill>
                <a:srgbClr val="808080"/>
              </a:solidFill>
              <a:prstDash val="sysDash"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9.2</c:v>
                </c:pt>
                <c:pt idx="1">
                  <c:v>9.1</c:v>
                </c:pt>
                <c:pt idx="2">
                  <c:v>9.0</c:v>
                </c:pt>
                <c:pt idx="3">
                  <c:v>8.9</c:v>
                </c:pt>
                <c:pt idx="4">
                  <c:v>8.8</c:v>
                </c:pt>
                <c:pt idx="5">
                  <c:v>8.7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 Performers</c:v>
                </c:pt>
              </c:strCache>
            </c:strRef>
          </c:tx>
          <c:spPr>
            <a:ln w="25400">
              <a:solidFill>
                <a:srgbClr val="50C87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6.5</c:v>
                </c:pt>
                <c:pt idx="1">
                  <c:v>6.2</c:v>
                </c:pt>
                <c:pt idx="2">
                  <c:v>5.9</c:v>
                </c:pt>
                <c:pt idx="3">
                  <c:v>5.6</c:v>
                </c:pt>
                <c:pt idx="4">
                  <c:v>5.3</c:v>
                </c:pt>
                <c:pt idx="5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$11 Billion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BD5E0"/>
                </a:solidFill>
              </a:defRPr>
            </a:pPr>
            <a:r>
              <a:t>UAE's Triple Threat: CVD, Diabetes, Cancer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2743200"/>
          </a:xfrm>
          <a:prstGeom prst="rect">
            <a:avLst/>
          </a:prstGeom>
          <a:solidFill>
            <a:srgbClr val="283246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FF0000"/>
                </a:solidFill>
              </a:defRPr>
            </a:pPr>
            <a:r>
              <a:t>🫀 TRIPLE THREAT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CVD: 40% of deaths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2x cancer rate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80% preventable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Diabetes: 20.7% prevalence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24-25% Emiratis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90% preventable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Cancer: 12% of deaths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5,526 cases/year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40-50% preventable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Combined: 52% of deaths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60%+ chronic burden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45920"/>
            <a:ext cx="2560320" cy="2743200"/>
          </a:xfrm>
          <a:prstGeom prst="rect">
            <a:avLst/>
          </a:prstGeom>
          <a:solidFill>
            <a:srgbClr val="283246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C5500"/>
                </a:solidFill>
              </a:defRPr>
            </a:pPr>
            <a:r>
              <a:t>💰 ECONOMIC IMPACT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FFD700"/>
                </a:solidFill>
              </a:defRPr>
            </a:pPr>
            <a:r>
              <a:t>$11 Billion Annual Burden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$5.2B Healthcare Costs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$5.7B Lost Productivity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FFD700"/>
                </a:solidFill>
              </a:defRPr>
            </a:pPr>
            <a:r>
              <a:t>16-Year Healthspan Gap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7th worst globally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Widened 45% Since 2000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(Getting worse, not better)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500,000+ Members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Daman/Hayat at risk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2560320" cy="2743200"/>
          </a:xfrm>
          <a:prstGeom prst="rect">
            <a:avLst/>
          </a:prstGeom>
          <a:solidFill>
            <a:srgbClr val="283246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50C878"/>
                </a:solidFill>
              </a:defRPr>
            </a:pPr>
            <a:r>
              <a:t>🎯 OPPORTUNITY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60%+ Preventable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FFD700"/>
                </a:solidFill>
              </a:defRPr>
            </a:pPr>
            <a:r>
              <a:t>$6.6B+ Savings Potential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(60% of $11B burden)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+1 Year Healthspan =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+$50,000 Value/Person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FFD700"/>
                </a:solidFill>
              </a:defRPr>
            </a:pPr>
            <a:r>
              <a:t>$25 Billion TAM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(500K members × $50K)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Digital Twin AI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Can Reverse This Crisis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Why Digital Twin AI Wins in the UAE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BD5E0"/>
                </a:solidFill>
              </a:defRPr>
            </a:pPr>
            <a:r>
              <a:t>Proven Technology + UAE-Specific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283246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2400" b="1">
                <a:solidFill>
                  <a:srgbClr val="50C878"/>
                </a:solidFill>
              </a:defRPr>
            </a:pPr>
            <a:r>
              <a:t>✅ PROVEN TECHNOLOGY FOUNDATION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Digital Twin: 20+ years (Boeing, GE) | AI Blood: 93% cancer detection (Nature 2024) | Retinal: 90% cost reduction ($30 vs $270-1,400) | Google Health Partnership validates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4023360" cy="2103120"/>
          </a:xfrm>
          <a:prstGeom prst="rect">
            <a:avLst/>
          </a:prstGeom>
          <a:solidFill>
            <a:srgbClr val="28324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🛡️ 6-SOURCE MOAT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1. Blood biomarkers ($55-140)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2. Genome (800K UAE genomes)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3. Medical imaging ($270-1,400)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4. AI retinal screening ($30)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5. Wearables (continuous)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6. DEXA scan ($100-200)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Competitors use 1-2 sources</a:t>
            </a: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We use 6 = Defensible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2468880"/>
            <a:ext cx="4023360" cy="2103120"/>
          </a:xfrm>
          <a:prstGeom prst="rect">
            <a:avLst/>
          </a:prstGeom>
          <a:solidFill>
            <a:srgbClr val="28324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🇦🇪 UAE-SPECIFIC ADVANTAGES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🧬 Emirati Genetics: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   800K+ UAE genomes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   30-40% higher accuracy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🌙 Ramadan Protocols: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   Fasting-aware AI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   40%+ higher adherence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🗣️ Arabic Language: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t>   Native dialect, not translations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Western competitors can't replicate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From Seed to Market Leader: 18-Month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$15M Seed → $150M Series A → $1-3B Exit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114800" cy="2011680"/>
          </a:xfrm>
          <a:prstGeom prst="rect">
            <a:avLst/>
          </a:prstGeom>
          <a:solidFill>
            <a:srgbClr val="283246"/>
          </a:solidFill>
          <a:ln w="254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400" b="1">
                <a:solidFill>
                  <a:srgbClr val="50C878"/>
                </a:solidFill>
              </a:defRPr>
            </a:pPr>
            <a:r>
              <a:t>💰 USE OF $15M SEED FUNDS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Team Building: $4M (27%)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CMO, CTO, VP Partnerships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8 Engineers, 3 Clinical, 2 Ops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Product Development: $6M (40%)</a:t>
            </a: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  Digital Twin AI engine: $2.5M</a:t>
            </a: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  Mobile apps (iOS/Android): $1.5M</a:t>
            </a: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  Backend + Thiqa integration: $1.5M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Clinical Validation: $3M (20%)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500-person pilot (6 months)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Clinical study + IRB approval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Regulatory &amp; Operations: $2M (13%)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28324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📅 18-MONTH TIMELINE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Months 0-6: BUILD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Hire team, build MVP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Thiqa MOU signed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Months 6-12: VALIDATE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500-person pilot launch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80% retention @ Month 3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+10 Health Score average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Months 12-18: SCALE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Publish research paper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Thiqa LOI (10,000 members)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$500K ARR (pilot converts)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Ready for Series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283246"/>
          </a:solidFill>
          <a:ln w="381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/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🚀 SERIES A (MONTH 18) → 5-YEAR EXIT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Series A Metrics: 500 users | 75% retention | $500K ARR | Thiqa LOI | Published research → $150M valuation (3x seed)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5-Year Vision: 500K Daman/Hayat members | $90M ARR (Year 2) | 2M GCC members | $360M ARR (Year 4)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FFD700"/>
                </a:solidFill>
              </a:defRPr>
            </a:pPr>
            <a:r>
              <a:t>Exit: $1-3B (Acquisition/IPO/Government) → 20-60x Returns for Seed Investors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UAE Healthspan Crisis: 16 Years Lost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BD5E0"/>
                </a:solidFill>
              </a:defRPr>
            </a:pPr>
            <a:r>
              <a:t>7th Worst Globally and Getting Worse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943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0" y="1371600"/>
            <a:ext cx="2103120" cy="3200400"/>
          </a:xfrm>
          <a:prstGeom prst="rect">
            <a:avLst/>
          </a:prstGeom>
          <a:solidFill>
            <a:srgbClr val="283246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FF0000"/>
                </a:solidFill>
              </a:defRPr>
            </a:pPr>
            <a:r>
              <a:t>📊 UAE CRISIS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📉 16 years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 in poor health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🌍 7th worst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 globally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📈 +45% worse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   since 2000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🌎 1.8x global avg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🏆 3.2x top performers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👥 500K+ affected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💰 $11B burden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🏥 60%+ preventable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While top countries improved 23%, UAE worsened 45%. Digital Twin AI can reverse this trajectory.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Digital Twin Health: Proven by Academia, Funded by VCs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D700"/>
                </a:solidFill>
              </a:defRPr>
            </a:pPr>
            <a:r>
              <a:t>$950M Valuation Proves Investors Believe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651760" cy="2377440"/>
          </a:xfrm>
          <a:prstGeom prst="rect">
            <a:avLst/>
          </a:prstGeom>
          <a:solidFill>
            <a:srgbClr val="283246"/>
          </a:solidFill>
          <a:ln w="254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4A5568"/>
                </a:solidFill>
              </a:defRPr>
            </a:pPr>
            <a:r>
              <a:t>🏥 ACADEMIC PROOF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FFFF"/>
                </a:solidFill>
              </a:defRPr>
            </a:pPr>
            <a:r>
              <a:t>Mount Sinai DigiTwin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12M patient database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Nature: 373 citations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Lancet: 9 citations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Dr. Zahi Fayad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(TIME Magazine 2025)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Proven: Diabetes, Sepsis,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MS, Cancer, Pediatrics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digitwinhealth.com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097280"/>
            <a:ext cx="2651760" cy="2377440"/>
          </a:xfrm>
          <a:prstGeom prst="rect">
            <a:avLst/>
          </a:prstGeom>
          <a:solidFill>
            <a:srgbClr val="283246"/>
          </a:solidFill>
          <a:ln w="381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50C878"/>
                </a:solidFill>
              </a:defRPr>
            </a:pPr>
            <a:r>
              <a:t>💰 TWIN HEALTH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Metabolic Digital Twin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$950M Valuation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(Aug 2025)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$296M+ Total Raised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Series E: $53M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71% Diabetes Reversal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(Cleveland Clinic)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Investors: Iconiq,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Temasek, Maj Invest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FD700"/>
                </a:solidFill>
              </a:defRPr>
            </a:pPr>
            <a:r>
              <a:t>$50M from Unicorn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2651760" cy="2377440"/>
          </a:xfrm>
          <a:prstGeom prst="rect">
            <a:avLst/>
          </a:prstGeom>
          <a:solidFill>
            <a:srgbClr val="283246"/>
          </a:solidFill>
          <a:ln w="25400"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FF6347"/>
                </a:solidFill>
              </a:defRPr>
            </a:pPr>
            <a:r>
              <a:t>🫀 PREDISURGE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Cardiovascular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Digital Twin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€6.5M Series A</a:t>
            </a: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($7M USD)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(Oct 2023)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3D Patient Models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for Heart Surgery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Reduces surgical risk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Improves outcomes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European leader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28324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📈 MARKET: $1.2B (2024) → $6.1B (2030) | 28.9% CAGR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$300M+ invested in Digital Twin health (past 3 years)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Near-unicorn valuations prove investor 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3657600"/>
            <a:ext cx="3931920" cy="1188720"/>
          </a:xfrm>
          <a:prstGeom prst="rect">
            <a:avLst/>
          </a:prstGeom>
          <a:solidFill>
            <a:srgbClr val="283246"/>
          </a:solidFill>
          <a:ln w="381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50C878"/>
                </a:solidFill>
              </a:defRPr>
            </a:pPr>
            <a:r>
              <a:t>🇦🇪 HAYAT AI: Proven Tech + UAE Optimization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Twin Health (metabolic only) = $950M</a:t>
            </a:r>
          </a:p>
          <a:p>
            <a:pPr algn="ctr">
              <a:defRPr sz="1400" b="1">
                <a:solidFill>
                  <a:srgbClr val="FFD700"/>
                </a:solidFill>
              </a:defRPr>
            </a:pPr>
            <a:r>
              <a:t>Hayat AI (CVD + Diabetes + Cancer) = Larger market</a:t>
            </a:r>
          </a:p>
          <a:p>
            <a:pPr algn="ctr">
              <a:defRPr sz="1400" b="1">
                <a:solidFill>
                  <a:srgbClr val="FFD700"/>
                </a:solidFill>
              </a:defRPr>
            </a:pPr>
            <a:r>
              <a:t>Western tech + UAE moat = Defensible advantage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