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Spend (AED billions)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High-burden
200k people</c:v>
                </c:pt>
                <c:pt idx="1">
                  <c:v>Lower-burden
800k people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Abu Dhabi National Members – Health-Spend Burden (Thiqa)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8C8C8"/>
                </a:solidFill>
              </a:defRPr>
            </a:pPr>
            <a:r>
              <a:t>Total Thiqa members (assumption): 1,000,000</a:t>
            </a:r>
          </a:p>
          <a:p>
            <a:pPr>
              <a:spcAft>
                <a:spcPts val="600"/>
              </a:spcAft>
              <a:defRPr sz="1400">
                <a:solidFill>
                  <a:srgbClr val="00B4D8"/>
                </a:solidFill>
              </a:defRPr>
            </a:pPr>
            <a:r>
              <a:t>Annual spend by Thiqa: 25 billion AED</a:t>
            </a:r>
          </a:p>
          <a:p>
            <a:pPr>
              <a:spcAft>
                <a:spcPts val="600"/>
              </a:spcAft>
              <a:defRPr sz="1400">
                <a:solidFill>
                  <a:srgbClr val="C8C8C8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B4D8"/>
                </a:solidFill>
              </a:defRPr>
            </a:pPr>
            <a:r>
              <a:t>Cost distribution assumption:</a:t>
            </a:r>
          </a:p>
          <a:p>
            <a:pPr>
              <a:spcAft>
                <a:spcPts val="600"/>
              </a:spcAft>
              <a:defRPr sz="1400">
                <a:solidFill>
                  <a:srgbClr val="C8C8C8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8C8C8"/>
                </a:solidFill>
              </a:defRPr>
            </a:pPr>
            <a:r>
              <a:t>High-burden 20% of members → 200,000 people</a:t>
            </a:r>
          </a:p>
          <a:p>
            <a:pPr>
              <a:spcAft>
                <a:spcPts val="600"/>
              </a:spcAft>
              <a:defRPr sz="1400">
                <a:solidFill>
                  <a:srgbClr val="00B4D8"/>
                </a:solidFill>
              </a:defRPr>
            </a:pPr>
            <a:r>
              <a:t>High-burden spend: 80% of total = 20 billion AED</a:t>
            </a:r>
          </a:p>
          <a:p>
            <a:pPr>
              <a:spcAft>
                <a:spcPts val="600"/>
              </a:spcAft>
              <a:defRPr sz="1400">
                <a:solidFill>
                  <a:srgbClr val="00B4D8"/>
                </a:solidFill>
              </a:defRPr>
            </a:pPr>
            <a:r>
              <a:t>Average cost per person (high-burden): 100,000 AED/person/year</a:t>
            </a:r>
          </a:p>
          <a:p>
            <a:pPr>
              <a:spcAft>
                <a:spcPts val="600"/>
              </a:spcAft>
              <a:defRPr sz="1400">
                <a:solidFill>
                  <a:srgbClr val="C8C8C8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8C8C8"/>
                </a:solidFill>
              </a:defRPr>
            </a:pPr>
            <a:r>
              <a:t>Lower-burden 80% of members → 800,000 people</a:t>
            </a:r>
          </a:p>
          <a:p>
            <a:pPr>
              <a:spcAft>
                <a:spcPts val="600"/>
              </a:spcAft>
              <a:defRPr sz="1400">
                <a:solidFill>
                  <a:srgbClr val="00B4D8"/>
                </a:solidFill>
              </a:defRPr>
            </a:pPr>
            <a:r>
              <a:t>Lower-burden spend: 20% of total = 5 billion AED</a:t>
            </a:r>
          </a:p>
          <a:p>
            <a:pPr>
              <a:spcAft>
                <a:spcPts val="600"/>
              </a:spcAft>
              <a:defRPr sz="1400">
                <a:solidFill>
                  <a:srgbClr val="00B4D8"/>
                </a:solidFill>
              </a:defRPr>
            </a:pPr>
            <a:r>
              <a:t>Average cost per person (lower-burden): 6,250 AED/person/year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0" y="1371600"/>
          <a:ext cx="36576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0" y="4754880"/>
            <a:ext cx="1371600" cy="548640"/>
          </a:xfrm>
          <a:prstGeom prst="rect">
            <a:avLst/>
          </a:prstGeom>
          <a:noFill/>
          <a:ln w="25400">
            <a:solidFill>
              <a:srgbClr val="C1121F"/>
            </a:solidFill>
          </a:ln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C1121F"/>
                </a:solidFill>
              </a:defRPr>
            </a:pPr>
            <a:r>
              <a:t>100k AED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4754880"/>
            <a:ext cx="1371600" cy="548640"/>
          </a:xfrm>
          <a:prstGeom prst="rect">
            <a:avLst/>
          </a:prstGeom>
          <a:noFill/>
          <a:ln w="25400">
            <a:solidFill>
              <a:srgbClr val="009664"/>
            </a:solidFill>
          </a:ln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9664"/>
                </a:solidFill>
              </a:defRPr>
            </a:pPr>
            <a:r>
              <a:t>6.25k AED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69696"/>
                </a:solidFill>
              </a:defRPr>
            </a:pPr>
            <a:r>
              <a:t>Note: Figures are based on assumption model. Actual Thiqa spend and membership to be verified.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Healthspan Extension Intervention: Saving Potential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8C8C8"/>
                </a:solidFill>
              </a:defRPr>
            </a:pPr>
            <a:r>
              <a:t>Target cohort: 5% of high-burden segment → 10,000 people</a:t>
            </a:r>
          </a:p>
          <a:p>
            <a:pPr>
              <a:spcAft>
                <a:spcPts val="600"/>
              </a:spcAft>
              <a:defRPr sz="1400" b="0">
                <a:solidFill>
                  <a:srgbClr val="C8C8C8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8C8C8"/>
                </a:solidFill>
              </a:defRPr>
            </a:pPr>
            <a:r>
              <a:t>Current average cost (high-burden): ~100,000 AED/person/year</a:t>
            </a:r>
          </a:p>
          <a:p>
            <a:pPr>
              <a:spcAft>
                <a:spcPts val="600"/>
              </a:spcAft>
              <a:defRPr sz="1400" b="0">
                <a:solidFill>
                  <a:srgbClr val="C8C8C8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8C8C8"/>
                </a:solidFill>
              </a:defRPr>
            </a:pPr>
            <a:r>
              <a:t>Lower-burden group average cost: ~6,250 AED/person/year</a:t>
            </a:r>
          </a:p>
          <a:p>
            <a:pPr>
              <a:spcAft>
                <a:spcPts val="600"/>
              </a:spcAft>
              <a:defRPr sz="1400" b="0">
                <a:solidFill>
                  <a:srgbClr val="C8C8C8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8C8C8"/>
                </a:solidFill>
              </a:defRPr>
            </a:pPr>
            <a:r>
              <a:t>Cost differential per person when moved:</a:t>
            </a:r>
          </a:p>
          <a:p>
            <a:pPr>
              <a:spcAft>
                <a:spcPts val="600"/>
              </a:spcAft>
              <a:defRPr sz="1400" b="1">
                <a:solidFill>
                  <a:srgbClr val="00B4D8"/>
                </a:solidFill>
              </a:defRPr>
            </a:pPr>
            <a:r>
              <a:t>100,000 − 6,250 = 93,750 AED/person/year</a:t>
            </a:r>
          </a:p>
          <a:p>
            <a:pPr>
              <a:spcAft>
                <a:spcPts val="600"/>
              </a:spcAft>
              <a:defRPr sz="1400" b="0">
                <a:solidFill>
                  <a:srgbClr val="C8C8C8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8C8C8"/>
                </a:solidFill>
              </a:defRPr>
            </a:pPr>
            <a:r>
              <a:t>Total annual savings for cohort:</a:t>
            </a:r>
          </a:p>
          <a:p>
            <a:pPr>
              <a:spcAft>
                <a:spcPts val="600"/>
              </a:spcAft>
              <a:defRPr sz="1400" b="1">
                <a:solidFill>
                  <a:srgbClr val="00B4D8"/>
                </a:solidFill>
              </a:defRPr>
            </a:pPr>
            <a:r>
              <a:t>10,000 × 93,750 AED = 937,500,000 AED</a:t>
            </a:r>
          </a:p>
          <a:p>
            <a:pPr>
              <a:spcAft>
                <a:spcPts val="600"/>
              </a:spcAft>
              <a:defRPr sz="1400" b="1">
                <a:solidFill>
                  <a:srgbClr val="00B4D8"/>
                </a:solidFill>
              </a:defRPr>
            </a:pPr>
            <a:r>
              <a:t>(~0.94 billion AED/year)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828800"/>
            <a:ext cx="1828800" cy="914400"/>
          </a:xfrm>
          <a:prstGeom prst="rect">
            <a:avLst/>
          </a:prstGeom>
          <a:noFill/>
          <a:ln w="38100">
            <a:solidFill>
              <a:srgbClr val="00B4D8"/>
            </a:solidFill>
          </a:ln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B4D8"/>
                </a:solidFill>
              </a:defRPr>
            </a:pPr>
            <a:r>
              <a:t>+1 Healthy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2103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828800"/>
            <a:ext cx="1371600" cy="914400"/>
          </a:xfrm>
          <a:prstGeom prst="rect">
            <a:avLst/>
          </a:prstGeom>
          <a:noFill/>
          <a:ln w="38100">
            <a:solidFill>
              <a:srgbClr val="009664"/>
            </a:solidFill>
          </a:ln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9664"/>
                </a:solidFill>
              </a:defRPr>
            </a:pPr>
            <a:r>
              <a:t>Low-Cost</a:t>
            </a:r>
          </a:p>
          <a:p>
            <a:r>
              <a:t>Bracket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3200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</a:defRPr>
            </a:pPr>
            <a:r>
              <a:t>≈ 0.94 billion AED</a:t>
            </a:r>
          </a:p>
          <a:p>
            <a:pPr algn="ctr">
              <a:defRPr sz="2800" b="1">
                <a:solidFill>
                  <a:srgbClr val="00B4D8"/>
                </a:solidFill>
              </a:defRPr>
            </a:pPr>
            <a:r>
              <a:t>annual savings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42976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B4B4B4"/>
                </a:solidFill>
              </a:defRPr>
            </a:pPr>
            <a:r>
              <a:t>Based on shifting 1% of total members</a:t>
            </a:r>
          </a:p>
          <a:p>
            <a:r>
              <a:t>into lower cost bracket via healthspan extension.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69696"/>
                </a:solidFill>
              </a:defRPr>
            </a:pPr>
            <a:r>
              <a:t>Key Takeaways:</a:t>
            </a:r>
          </a:p>
          <a:p>
            <a:r>
              <a:t>• Even a small cohort (1% of total) generates meaningful savings</a:t>
            </a:r>
          </a:p>
          <a:p>
            <a:r>
              <a:t>• Realistic model uses cost difference between brackets, not full elimination</a:t>
            </a:r>
          </a:p>
          <a:p>
            <a:r>
              <a:t>• Consider intervention costs, cohort variance, and multi-year effects for accuracy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